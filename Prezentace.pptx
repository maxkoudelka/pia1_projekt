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34A3-5583-4A44-89C1-AE42E72103D5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8E611-93B0-4664-8621-79F327A7E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381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8E611-93B0-4664-8621-79F327A7E85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393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202888-035F-3C9A-B1FF-043B548A1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37FA4D9-4CF9-15FD-BCAD-29A78C650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5F9C76B-B6C2-8D87-FCA5-28F570FB8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590-98D3-4D44-8196-9D730AFE4F7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711D7B8-0CC0-D026-B36D-F1A3763C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A56129-D347-7790-6C1A-DFD05C5D9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CC9BC-993B-4757-A117-EE24CC2C6B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75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90B10A-1956-9319-9DE2-9C686DA3C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DD858-B363-C11C-833C-B0883F7C4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3FC8A9-0333-D9A0-4534-4BFADE514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590-98D3-4D44-8196-9D730AFE4F7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30BEAE5-E6B1-C42B-986D-8CDA4AC2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4EB4D23-6133-8682-C4D7-B9CBF0769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CC9BC-993B-4757-A117-EE24CC2C6B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84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542237-43AD-C7B1-2826-BCF00212F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A69F652-7B7F-FFAB-16CA-A9DBBF762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62C8857-2158-7866-65C3-62F9B9CE0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590-98D3-4D44-8196-9D730AFE4F7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2437E2F-8836-4149-FE39-9B503680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A879BDB-8315-7E2F-C517-87FAEEC8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CC9BC-993B-4757-A117-EE24CC2C6B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71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E4EBF6-98DE-6CE5-DF85-7B6C96541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C0E812-3181-3518-3C97-D1E2EAB09D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A69D4FE-06BA-1696-8D78-8FB29692C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C0C289F-774F-19C4-444D-D43400DC6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590-98D3-4D44-8196-9D730AFE4F7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0477F77-B5A4-3563-AB3F-4F02EE997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1523EEA-AA4C-27EF-54E0-BB92758B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CC9BC-993B-4757-A117-EE24CC2C6B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315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2DB1B3-B048-748B-678E-F06A7D21E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ECFBDB2-FB78-9750-1D48-80042879B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23D2621-A3AC-BA44-5B2B-BF90D4C31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52D50DB-F6F2-A79C-2F7E-36D3AE2F72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7473E60-8B7F-078D-5B96-038370FD4D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01E6308-282F-828C-88FF-F269F5D0A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590-98D3-4D44-8196-9D730AFE4F7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812B59A-A3A0-CE7D-D7A6-5292E6FF9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FB1833C1-B3E8-E2C7-C5E7-7E59BDB4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CC9BC-993B-4757-A117-EE24CC2C6B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3661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6F37F9-CDC7-1CE5-E07E-BE5FADC73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896FBDD-1163-FBD8-FF3A-B2DDBE608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590-98D3-4D44-8196-9D730AFE4F7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F2E7026-862C-23F5-52D2-24D2CDF30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8B19A2A-4743-E3AA-DA73-777EC319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CC9BC-993B-4757-A117-EE24CC2C6B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223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E051F46-5330-2699-BE1C-4C9AE526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590-98D3-4D44-8196-9D730AFE4F7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B29D92F-E903-0698-D0A8-3E01A80D8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91390D3-1AAE-D0B1-1BDE-DB6E402C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CC9BC-993B-4757-A117-EE24CC2C6B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722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050B54-36B8-1728-20C9-D7291B0C8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A7A47F2-A49A-3BC5-FAB2-EBBDBFEA1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535298D-AAB7-F15F-824F-C141ED502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D4AFED5-99AB-6BFA-E7BD-781DB0BD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590-98D3-4D44-8196-9D730AFE4F7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6582791-F4BC-35F2-8F92-9B29E069E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15086FA-9D35-945B-CC27-2063F57B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CC9BC-993B-4757-A117-EE24CC2C6B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293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11C6FA-21C1-B0A3-1A0D-50EB7FBE8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40E93D70-A104-AEF5-C884-F5621EF3B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AC06280-3FB3-2DC2-9B4E-01670AB5C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A03F210-1890-A931-E939-CF5B9515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590-98D3-4D44-8196-9D730AFE4F7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B29D9E1-D5D8-9AF8-5010-B4AE5C54D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499DA87-570B-A3D2-C199-14F28567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CC9BC-993B-4757-A117-EE24CC2C6B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481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EF996D-AEE0-3FDE-22E4-5EAC50B4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5AAD31A-8EA1-201D-8A9C-18735F091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5CD62A4-E8CC-C8A4-286A-5CB106A82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590-98D3-4D44-8196-9D730AFE4F7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96B7A75-0B5D-A37D-4490-5A86E29A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54A426F-48E6-64E5-B8EC-35A0D681F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CC9BC-993B-4757-A117-EE24CC2C6B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342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00A9037-D19C-0BDF-2F42-D6C6E39C3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F324869-A938-6888-7028-B767F0FBA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2935829-D1AE-DB30-90EC-7BCD2E65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590-98D3-4D44-8196-9D730AFE4F7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8203C2-1114-9143-8616-991528D86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EEE85A1-F4D3-515A-EEBD-CA348561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CC9BC-993B-4757-A117-EE24CC2C6B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716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9177D295-73C2-B7AE-08D1-0E90FC707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F573E0D-EFC5-2812-F087-B02B11AA5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E446C5E-E065-6D14-6461-2A01FB6C7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CE590-98D3-4D44-8196-9D730AFE4F72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B1E9F1D-9F82-651D-367B-C664D8DE4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6B8CFDA-5F0B-05F1-114D-F68D93E45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DCC9BC-993B-4757-A117-EE24CC2C6B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50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 descr="Obsah obrázku bílé&#10;&#10;Obsah generovaný pomocí AI může být nesprávný.">
            <a:extLst>
              <a:ext uri="{FF2B5EF4-FFF2-40B4-BE49-F238E27FC236}">
                <a16:creationId xmlns:a16="http://schemas.microsoft.com/office/drawing/2014/main" id="{5A7FFDEE-8C56-75CB-0029-11F8325DD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DC0DAA9B-6DD0-37E3-705A-0E2BBC2768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3D </a:t>
            </a:r>
            <a:r>
              <a:rPr lang="en-GB" dirty="0" err="1"/>
              <a:t>výpočet</a:t>
            </a:r>
            <a:r>
              <a:rPr lang="en-GB" dirty="0"/>
              <a:t> </a:t>
            </a:r>
            <a:r>
              <a:rPr lang="en-GB" dirty="0" err="1"/>
              <a:t>stacionárního</a:t>
            </a:r>
            <a:r>
              <a:rPr lang="en-GB" dirty="0"/>
              <a:t> </a:t>
            </a:r>
            <a:r>
              <a:rPr lang="en-GB" dirty="0" err="1"/>
              <a:t>vedení</a:t>
            </a:r>
            <a:r>
              <a:rPr lang="en-GB" dirty="0"/>
              <a:t> </a:t>
            </a:r>
            <a:r>
              <a:rPr lang="en-GB" dirty="0" err="1"/>
              <a:t>tepla</a:t>
            </a:r>
            <a:r>
              <a:rPr lang="en-GB" dirty="0"/>
              <a:t> se </a:t>
            </a:r>
            <a:r>
              <a:rPr lang="en-GB" dirty="0" err="1"/>
              <a:t>vnitřním</a:t>
            </a:r>
            <a:r>
              <a:rPr lang="en-GB" dirty="0"/>
              <a:t> </a:t>
            </a:r>
            <a:r>
              <a:rPr lang="en-GB" dirty="0" err="1"/>
              <a:t>zdrojem</a:t>
            </a:r>
            <a:endParaRPr lang="en-GB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36AC0E5-9E48-4387-2FBA-90F6F58BB0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6172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bílé&#10;&#10;Obsah generovaný pomocí AI může být nesprávný.">
            <a:extLst>
              <a:ext uri="{FF2B5EF4-FFF2-40B4-BE49-F238E27FC236}">
                <a16:creationId xmlns:a16="http://schemas.microsoft.com/office/drawing/2014/main" id="{1854F4D1-91E7-9A4D-4A3E-AB98B62A2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8773211E-70E7-9C69-E27D-44B04846F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798" y="165119"/>
            <a:ext cx="10515600" cy="1325563"/>
          </a:xfrm>
        </p:spPr>
        <p:txBody>
          <a:bodyPr>
            <a:normAutofit/>
          </a:bodyPr>
          <a:lstStyle/>
          <a:p>
            <a:r>
              <a:rPr lang="cs-CZ" sz="4000" dirty="0"/>
              <a:t>1) Geometrie, Síť, Fyzikální parametry</a:t>
            </a:r>
            <a:endParaRPr lang="en-GB" sz="4000" dirty="0"/>
          </a:p>
        </p:txBody>
      </p:sp>
      <p:pic>
        <p:nvPicPr>
          <p:cNvPr id="7" name="Zástupný obsah 6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535E3A5F-C93C-08B4-4317-B5097D6E8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76700" y="1175750"/>
            <a:ext cx="3822700" cy="551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05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EEBC4-D205-7F80-CDE8-888CCDBE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bílé&#10;&#10;Obsah generovaný pomocí AI může být nesprávný.">
            <a:extLst>
              <a:ext uri="{FF2B5EF4-FFF2-40B4-BE49-F238E27FC236}">
                <a16:creationId xmlns:a16="http://schemas.microsoft.com/office/drawing/2014/main" id="{B1FA9EFB-9700-9273-5D65-06B16780D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BBC7099-9519-DAFE-56A2-288EEB7C8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606"/>
            <a:ext cx="10515600" cy="1325563"/>
          </a:xfrm>
        </p:spPr>
        <p:txBody>
          <a:bodyPr/>
          <a:lstStyle/>
          <a:p>
            <a:r>
              <a:rPr lang="cs-CZ" noProof="0" dirty="0"/>
              <a:t>2) Inicializace teploty a zdroje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3522D5DC-33BE-2036-B291-258E1336B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26" name="Skupina 25">
            <a:extLst>
              <a:ext uri="{FF2B5EF4-FFF2-40B4-BE49-F238E27FC236}">
                <a16:creationId xmlns:a16="http://schemas.microsoft.com/office/drawing/2014/main" id="{53A2D4D0-FE70-06DE-9857-68F6A1A12BFF}"/>
              </a:ext>
            </a:extLst>
          </p:cNvPr>
          <p:cNvGrpSpPr/>
          <p:nvPr/>
        </p:nvGrpSpPr>
        <p:grpSpPr>
          <a:xfrm>
            <a:off x="3128962" y="1258094"/>
            <a:ext cx="5934075" cy="5448300"/>
            <a:chOff x="3128962" y="1361163"/>
            <a:chExt cx="5934075" cy="5448300"/>
          </a:xfrm>
        </p:grpSpPr>
        <p:pic>
          <p:nvPicPr>
            <p:cNvPr id="8" name="Obrázek 7" descr="Obsah obrázku text, snímek obrazovky, Písmo&#10;&#10;Obsah generovaný pomocí AI může být nesprávný.">
              <a:extLst>
                <a:ext uri="{FF2B5EF4-FFF2-40B4-BE49-F238E27FC236}">
                  <a16:creationId xmlns:a16="http://schemas.microsoft.com/office/drawing/2014/main" id="{95B24F94-63A7-649E-8B3B-27E723FAF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28962" y="1361163"/>
              <a:ext cx="5934075" cy="5448300"/>
            </a:xfrm>
            <a:prstGeom prst="rect">
              <a:avLst/>
            </a:prstGeom>
          </p:spPr>
        </p:pic>
        <p:sp>
          <p:nvSpPr>
            <p:cNvPr id="9" name="Obdélník 8">
              <a:extLst>
                <a:ext uri="{FF2B5EF4-FFF2-40B4-BE49-F238E27FC236}">
                  <a16:creationId xmlns:a16="http://schemas.microsoft.com/office/drawing/2014/main" id="{05923F4E-9CFA-CE65-E1D2-20F0FEFCDE8B}"/>
                </a:ext>
              </a:extLst>
            </p:cNvPr>
            <p:cNvSpPr/>
            <p:nvPr/>
          </p:nvSpPr>
          <p:spPr>
            <a:xfrm>
              <a:off x="3668215" y="2749361"/>
              <a:ext cx="3985146" cy="989463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bdélník 15">
              <a:extLst>
                <a:ext uri="{FF2B5EF4-FFF2-40B4-BE49-F238E27FC236}">
                  <a16:creationId xmlns:a16="http://schemas.microsoft.com/office/drawing/2014/main" id="{1E995FE8-34F8-88E6-74C3-C9CB4E1E06FE}"/>
                </a:ext>
              </a:extLst>
            </p:cNvPr>
            <p:cNvSpPr/>
            <p:nvPr/>
          </p:nvSpPr>
          <p:spPr>
            <a:xfrm>
              <a:off x="3668214" y="3850519"/>
              <a:ext cx="5221785" cy="143903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Obdélník 21">
              <a:extLst>
                <a:ext uri="{FF2B5EF4-FFF2-40B4-BE49-F238E27FC236}">
                  <a16:creationId xmlns:a16="http://schemas.microsoft.com/office/drawing/2014/main" id="{CC8D3C83-7F19-B698-6FBD-9F727B006BBE}"/>
                </a:ext>
              </a:extLst>
            </p:cNvPr>
            <p:cNvSpPr/>
            <p:nvPr/>
          </p:nvSpPr>
          <p:spPr>
            <a:xfrm>
              <a:off x="3232150" y="5370431"/>
              <a:ext cx="5295899" cy="1335963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4" name="Přímá spojnice 13">
            <a:extLst>
              <a:ext uri="{FF2B5EF4-FFF2-40B4-BE49-F238E27FC236}">
                <a16:creationId xmlns:a16="http://schemas.microsoft.com/office/drawing/2014/main" id="{376602D2-7F0C-3430-5A18-F9F1E145C9F1}"/>
              </a:ext>
            </a:extLst>
          </p:cNvPr>
          <p:cNvCxnSpPr>
            <a:stCxn id="9" idx="3"/>
          </p:cNvCxnSpPr>
          <p:nvPr/>
        </p:nvCxnSpPr>
        <p:spPr>
          <a:xfrm flipV="1">
            <a:off x="7653361" y="2328981"/>
            <a:ext cx="2106589" cy="8120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6CDBB42C-79D9-4964-A9CD-3AFB4D1DF68C}"/>
              </a:ext>
            </a:extLst>
          </p:cNvPr>
          <p:cNvSpPr txBox="1"/>
          <p:nvPr/>
        </p:nvSpPr>
        <p:spPr>
          <a:xfrm>
            <a:off x="9759950" y="2103030"/>
            <a:ext cx="1593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1"/>
                </a:solidFill>
              </a:rPr>
              <a:t>Převod 3D indexu na 1D</a:t>
            </a:r>
            <a:endParaRPr lang="en-GB" dirty="0">
              <a:solidFill>
                <a:schemeClr val="accent1"/>
              </a:solidFill>
            </a:endParaRPr>
          </a:p>
        </p:txBody>
      </p:sp>
      <p:cxnSp>
        <p:nvCxnSpPr>
          <p:cNvPr id="17" name="Přímá spojnice 16">
            <a:extLst>
              <a:ext uri="{FF2B5EF4-FFF2-40B4-BE49-F238E27FC236}">
                <a16:creationId xmlns:a16="http://schemas.microsoft.com/office/drawing/2014/main" id="{25637166-6073-F392-F2A0-33D110C2EA03}"/>
              </a:ext>
            </a:extLst>
          </p:cNvPr>
          <p:cNvCxnSpPr>
            <a:cxnSpLocks/>
          </p:cNvCxnSpPr>
          <p:nvPr/>
        </p:nvCxnSpPr>
        <p:spPr>
          <a:xfrm>
            <a:off x="2673350" y="4129052"/>
            <a:ext cx="994864" cy="348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33345636-ECD1-16A5-2C47-07C74AB7D268}"/>
              </a:ext>
            </a:extLst>
          </p:cNvPr>
          <p:cNvSpPr txBox="1"/>
          <p:nvPr/>
        </p:nvSpPr>
        <p:spPr>
          <a:xfrm>
            <a:off x="1079501" y="3805886"/>
            <a:ext cx="1593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dirty="0">
                <a:solidFill>
                  <a:schemeClr val="accent1"/>
                </a:solidFill>
              </a:rPr>
              <a:t>Zavedení zdroje tepla</a:t>
            </a:r>
            <a:endParaRPr lang="en-GB" dirty="0">
              <a:solidFill>
                <a:schemeClr val="accent1"/>
              </a:solidFill>
            </a:endParaRPr>
          </a:p>
        </p:txBody>
      </p:sp>
      <p:cxnSp>
        <p:nvCxnSpPr>
          <p:cNvPr id="23" name="Přímá spojnice 22">
            <a:extLst>
              <a:ext uri="{FF2B5EF4-FFF2-40B4-BE49-F238E27FC236}">
                <a16:creationId xmlns:a16="http://schemas.microsoft.com/office/drawing/2014/main" id="{2FECD98D-2696-0445-4340-9889B0EB5137}"/>
              </a:ext>
            </a:extLst>
          </p:cNvPr>
          <p:cNvCxnSpPr>
            <a:cxnSpLocks/>
          </p:cNvCxnSpPr>
          <p:nvPr/>
        </p:nvCxnSpPr>
        <p:spPr>
          <a:xfrm flipV="1">
            <a:off x="8528049" y="5750602"/>
            <a:ext cx="1182937" cy="1847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EE7D5639-31A1-1BAC-C47D-2FE3710B422A}"/>
              </a:ext>
            </a:extLst>
          </p:cNvPr>
          <p:cNvSpPr txBox="1"/>
          <p:nvPr/>
        </p:nvSpPr>
        <p:spPr>
          <a:xfrm>
            <a:off x="9710986" y="5392081"/>
            <a:ext cx="2347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accent1"/>
                </a:solidFill>
              </a:rPr>
              <a:t>Nastav</a:t>
            </a:r>
            <a:r>
              <a:rPr lang="cs-CZ" dirty="0" err="1">
                <a:solidFill>
                  <a:schemeClr val="accent1"/>
                </a:solidFill>
              </a:rPr>
              <a:t>ení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počáteční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teplot</a:t>
            </a:r>
            <a:r>
              <a:rPr lang="cs-CZ" dirty="0">
                <a:solidFill>
                  <a:schemeClr val="accent1"/>
                </a:solidFill>
              </a:rPr>
              <a:t>y</a:t>
            </a:r>
          </a:p>
          <a:p>
            <a:r>
              <a:rPr lang="cs-CZ" dirty="0">
                <a:solidFill>
                  <a:schemeClr val="accent1"/>
                </a:solidFill>
              </a:rPr>
              <a:t>A</a:t>
            </a:r>
            <a:r>
              <a:rPr lang="en-GB" dirty="0" err="1">
                <a:solidFill>
                  <a:schemeClr val="accent1"/>
                </a:solidFill>
              </a:rPr>
              <a:t>lok</a:t>
            </a:r>
            <a:r>
              <a:rPr lang="cs-CZ" dirty="0" err="1">
                <a:solidFill>
                  <a:schemeClr val="accent1"/>
                </a:solidFill>
              </a:rPr>
              <a:t>ace</a:t>
            </a:r>
            <a:r>
              <a:rPr lang="en-GB" dirty="0">
                <a:solidFill>
                  <a:schemeClr val="accent1"/>
                </a:solidFill>
              </a:rPr>
              <a:t> pole a </a:t>
            </a:r>
            <a:r>
              <a:rPr lang="en-GB" dirty="0" err="1">
                <a:solidFill>
                  <a:schemeClr val="accent1"/>
                </a:solidFill>
              </a:rPr>
              <a:t>vytvoř</a:t>
            </a:r>
            <a:r>
              <a:rPr lang="cs-CZ" dirty="0" err="1">
                <a:solidFill>
                  <a:schemeClr val="accent1"/>
                </a:solidFill>
              </a:rPr>
              <a:t>ení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zdroj</a:t>
            </a:r>
            <a:r>
              <a:rPr lang="cs-CZ" dirty="0">
                <a:solidFill>
                  <a:schemeClr val="accent1"/>
                </a:solidFill>
              </a:rPr>
              <a:t>e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tepla</a:t>
            </a:r>
            <a:endParaRPr lang="en-GB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24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1F4EF-8035-FCF1-FD87-13E6F1C1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bílé&#10;&#10;Obsah generovaný pomocí AI může být nesprávný.">
            <a:extLst>
              <a:ext uri="{FF2B5EF4-FFF2-40B4-BE49-F238E27FC236}">
                <a16:creationId xmlns:a16="http://schemas.microsoft.com/office/drawing/2014/main" id="{DA7368AF-5934-E409-9C6B-AB0E1714F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3F4B7E97-8AD1-9FB1-5D84-9FB4B8696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375"/>
            <a:ext cx="10515600" cy="1325563"/>
          </a:xfrm>
        </p:spPr>
        <p:txBody>
          <a:bodyPr/>
          <a:lstStyle/>
          <a:p>
            <a:r>
              <a:rPr lang="cs-CZ" dirty="0"/>
              <a:t>3) Iterační výpočet</a:t>
            </a:r>
            <a:endParaRPr lang="en-GB" dirty="0"/>
          </a:p>
        </p:txBody>
      </p:sp>
      <p:pic>
        <p:nvPicPr>
          <p:cNvPr id="14" name="Zástupný obsah 13">
            <a:extLst>
              <a:ext uri="{FF2B5EF4-FFF2-40B4-BE49-F238E27FC236}">
                <a16:creationId xmlns:a16="http://schemas.microsoft.com/office/drawing/2014/main" id="{D3168C1E-9C09-8DC4-8E6D-C2663AAC7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28478" y="3581400"/>
            <a:ext cx="5153025" cy="1333500"/>
          </a:xfrm>
          <a:prstGeom prst="rect">
            <a:avLst/>
          </a:prstGeom>
        </p:spPr>
      </p:pic>
      <p:grpSp>
        <p:nvGrpSpPr>
          <p:cNvPr id="21" name="Skupina 20">
            <a:extLst>
              <a:ext uri="{FF2B5EF4-FFF2-40B4-BE49-F238E27FC236}">
                <a16:creationId xmlns:a16="http://schemas.microsoft.com/office/drawing/2014/main" id="{E3672CC5-BD48-51EF-3F38-709B08DB66B9}"/>
              </a:ext>
            </a:extLst>
          </p:cNvPr>
          <p:cNvGrpSpPr/>
          <p:nvPr/>
        </p:nvGrpSpPr>
        <p:grpSpPr>
          <a:xfrm>
            <a:off x="7185678" y="1392377"/>
            <a:ext cx="4238625" cy="2189023"/>
            <a:chOff x="7235437" y="472281"/>
            <a:chExt cx="4238625" cy="2189023"/>
          </a:xfrm>
        </p:grpSpPr>
        <p:pic>
          <p:nvPicPr>
            <p:cNvPr id="7" name="Obrázek 6">
              <a:extLst>
                <a:ext uri="{FF2B5EF4-FFF2-40B4-BE49-F238E27FC236}">
                  <a16:creationId xmlns:a16="http://schemas.microsoft.com/office/drawing/2014/main" id="{49B325B3-F561-F5CA-FC62-287500EEA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5437" y="472281"/>
              <a:ext cx="4238625" cy="1285875"/>
            </a:xfrm>
            <a:prstGeom prst="rect">
              <a:avLst/>
            </a:prstGeom>
          </p:spPr>
        </p:pic>
        <p:cxnSp>
          <p:nvCxnSpPr>
            <p:cNvPr id="9" name="Přímá spojnice se šipkou 8">
              <a:extLst>
                <a:ext uri="{FF2B5EF4-FFF2-40B4-BE49-F238E27FC236}">
                  <a16:creationId xmlns:a16="http://schemas.microsoft.com/office/drawing/2014/main" id="{1B20C843-B23A-BD0C-4D7C-98E5EA02E32E}"/>
                </a:ext>
              </a:extLst>
            </p:cNvPr>
            <p:cNvCxnSpPr>
              <a:cxnSpLocks/>
              <a:stCxn id="7" idx="2"/>
              <a:endCxn id="14" idx="0"/>
            </p:cNvCxnSpPr>
            <p:nvPr/>
          </p:nvCxnSpPr>
          <p:spPr>
            <a:xfrm>
              <a:off x="9354750" y="1758156"/>
              <a:ext cx="0" cy="9031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AutoShape 2" descr="Nahraný obrázek">
            <a:extLst>
              <a:ext uri="{FF2B5EF4-FFF2-40B4-BE49-F238E27FC236}">
                <a16:creationId xmlns:a16="http://schemas.microsoft.com/office/drawing/2014/main" id="{3FD2EB8A-B936-B339-3AF4-3F750D3A62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" name="AutoShape 4" descr="Nahraný obrázek">
            <a:extLst>
              <a:ext uri="{FF2B5EF4-FFF2-40B4-BE49-F238E27FC236}">
                <a16:creationId xmlns:a16="http://schemas.microsoft.com/office/drawing/2014/main" id="{8293C35F-8E9B-73DE-8241-0C0DF18A22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8" name="Obrázek 17">
            <a:extLst>
              <a:ext uri="{FF2B5EF4-FFF2-40B4-BE49-F238E27FC236}">
                <a16:creationId xmlns:a16="http://schemas.microsoft.com/office/drawing/2014/main" id="{B6B9055C-6785-1EA6-D357-E64A629EB5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477" y="5818048"/>
            <a:ext cx="5146077" cy="614502"/>
          </a:xfrm>
          <a:prstGeom prst="rect">
            <a:avLst/>
          </a:prstGeom>
        </p:spPr>
      </p:pic>
      <p:cxnSp>
        <p:nvCxnSpPr>
          <p:cNvPr id="20" name="Přímá spojnice se šipkou 19">
            <a:extLst>
              <a:ext uri="{FF2B5EF4-FFF2-40B4-BE49-F238E27FC236}">
                <a16:creationId xmlns:a16="http://schemas.microsoft.com/office/drawing/2014/main" id="{B3991E98-82A2-82C0-408B-2BF10B7E9C6F}"/>
              </a:ext>
            </a:extLst>
          </p:cNvPr>
          <p:cNvCxnSpPr>
            <a:cxnSpLocks/>
          </p:cNvCxnSpPr>
          <p:nvPr/>
        </p:nvCxnSpPr>
        <p:spPr>
          <a:xfrm>
            <a:off x="9301516" y="4914900"/>
            <a:ext cx="0" cy="903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Obrázek 5" descr="Obsah obrázku text, snímek obrazovky, displej, software&#10;&#10;Obsah generovaný pomocí AI může být nesprávný.">
            <a:extLst>
              <a:ext uri="{FF2B5EF4-FFF2-40B4-BE49-F238E27FC236}">
                <a16:creationId xmlns:a16="http://schemas.microsoft.com/office/drawing/2014/main" id="{B235E56C-57AF-714D-0059-3397BEDC0A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586" y="1250950"/>
            <a:ext cx="6209304" cy="518160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DE9CF8A3-3A38-FFE1-4DE9-CAB90BEB17D7}"/>
              </a:ext>
            </a:extLst>
          </p:cNvPr>
          <p:cNvSpPr txBox="1"/>
          <p:nvPr/>
        </p:nvSpPr>
        <p:spPr>
          <a:xfrm>
            <a:off x="7285354" y="838180"/>
            <a:ext cx="4032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err="1">
                <a:solidFill>
                  <a:schemeClr val="accent1"/>
                </a:solidFill>
              </a:rPr>
              <a:t>Poissonova</a:t>
            </a:r>
            <a:r>
              <a:rPr lang="en-GB" sz="2000" b="1" dirty="0">
                <a:solidFill>
                  <a:schemeClr val="accent1"/>
                </a:solidFill>
              </a:rPr>
              <a:t> </a:t>
            </a:r>
            <a:r>
              <a:rPr lang="en-GB" sz="2000" b="1" dirty="0" err="1">
                <a:solidFill>
                  <a:schemeClr val="accent1"/>
                </a:solidFill>
              </a:rPr>
              <a:t>rovnice</a:t>
            </a:r>
            <a:r>
              <a:rPr lang="en-GB" sz="2000" b="1" dirty="0">
                <a:solidFill>
                  <a:schemeClr val="accent1"/>
                </a:solidFill>
              </a:rPr>
              <a:t> </a:t>
            </a:r>
            <a:r>
              <a:rPr lang="en-GB" sz="2000" b="1" dirty="0" err="1">
                <a:solidFill>
                  <a:schemeClr val="accent1"/>
                </a:solidFill>
              </a:rPr>
              <a:t>vedení</a:t>
            </a:r>
            <a:r>
              <a:rPr lang="en-GB" sz="2000" b="1" dirty="0">
                <a:solidFill>
                  <a:schemeClr val="accent1"/>
                </a:solidFill>
              </a:rPr>
              <a:t> </a:t>
            </a:r>
            <a:r>
              <a:rPr lang="en-GB" sz="2000" b="1" dirty="0" err="1">
                <a:solidFill>
                  <a:schemeClr val="accent1"/>
                </a:solidFill>
              </a:rPr>
              <a:t>tepla</a:t>
            </a:r>
            <a:endParaRPr lang="en-GB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49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3E49E-ADB1-B11B-C807-7241C3D54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bílé&#10;&#10;Obsah generovaný pomocí AI může být nesprávný.">
            <a:extLst>
              <a:ext uri="{FF2B5EF4-FFF2-40B4-BE49-F238E27FC236}">
                <a16:creationId xmlns:a16="http://schemas.microsoft.com/office/drawing/2014/main" id="{D4DEFE32-611D-9C54-FABB-2CF195055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40703FD-1EE6-ABFB-937C-70270F53B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4) Okrajové podmínky</a:t>
            </a:r>
            <a:endParaRPr lang="en-GB" dirty="0"/>
          </a:p>
        </p:txBody>
      </p:sp>
      <p:grpSp>
        <p:nvGrpSpPr>
          <p:cNvPr id="22" name="Skupina 21">
            <a:extLst>
              <a:ext uri="{FF2B5EF4-FFF2-40B4-BE49-F238E27FC236}">
                <a16:creationId xmlns:a16="http://schemas.microsoft.com/office/drawing/2014/main" id="{18961A55-62AA-2CE8-5412-BEF00B8770A7}"/>
              </a:ext>
            </a:extLst>
          </p:cNvPr>
          <p:cNvGrpSpPr/>
          <p:nvPr/>
        </p:nvGrpSpPr>
        <p:grpSpPr>
          <a:xfrm>
            <a:off x="8221865" y="1843081"/>
            <a:ext cx="3782140" cy="4043178"/>
            <a:chOff x="7463583" y="1690688"/>
            <a:chExt cx="3782140" cy="4043178"/>
          </a:xfrm>
        </p:grpSpPr>
        <p:pic>
          <p:nvPicPr>
            <p:cNvPr id="7" name="Obrázek 6">
              <a:extLst>
                <a:ext uri="{FF2B5EF4-FFF2-40B4-BE49-F238E27FC236}">
                  <a16:creationId xmlns:a16="http://schemas.microsoft.com/office/drawing/2014/main" id="{F8AF6453-4126-8B1C-2883-FFA3A7572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63896" y="1690688"/>
              <a:ext cx="3381516" cy="985643"/>
            </a:xfrm>
            <a:prstGeom prst="rect">
              <a:avLst/>
            </a:prstGeom>
          </p:spPr>
        </p:pic>
        <p:pic>
          <p:nvPicPr>
            <p:cNvPr id="9" name="Obrázek 8">
              <a:extLst>
                <a:ext uri="{FF2B5EF4-FFF2-40B4-BE49-F238E27FC236}">
                  <a16:creationId xmlns:a16="http://schemas.microsoft.com/office/drawing/2014/main" id="{B5A15C84-745C-218E-B7CF-0CF48D8DD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26917" y="3219451"/>
              <a:ext cx="2855473" cy="985646"/>
            </a:xfrm>
            <a:prstGeom prst="rect">
              <a:avLst/>
            </a:prstGeom>
          </p:spPr>
        </p:pic>
        <p:grpSp>
          <p:nvGrpSpPr>
            <p:cNvPr id="19" name="Skupina 18">
              <a:extLst>
                <a:ext uri="{FF2B5EF4-FFF2-40B4-BE49-F238E27FC236}">
                  <a16:creationId xmlns:a16="http://schemas.microsoft.com/office/drawing/2014/main" id="{74C25589-FC92-4784-CF05-A77FA1F9CA23}"/>
                </a:ext>
              </a:extLst>
            </p:cNvPr>
            <p:cNvGrpSpPr/>
            <p:nvPr/>
          </p:nvGrpSpPr>
          <p:grpSpPr>
            <a:xfrm>
              <a:off x="9243528" y="2854462"/>
              <a:ext cx="222250" cy="203200"/>
              <a:chOff x="8970247" y="1898650"/>
              <a:chExt cx="222250" cy="203200"/>
            </a:xfrm>
          </p:grpSpPr>
          <p:cxnSp>
            <p:nvCxnSpPr>
              <p:cNvPr id="14" name="Přímá spojnice 13">
                <a:extLst>
                  <a:ext uri="{FF2B5EF4-FFF2-40B4-BE49-F238E27FC236}">
                    <a16:creationId xmlns:a16="http://schemas.microsoft.com/office/drawing/2014/main" id="{D5F08FC7-3129-80FF-B405-7167D8CA1546}"/>
                  </a:ext>
                </a:extLst>
              </p:cNvPr>
              <p:cNvCxnSpPr/>
              <p:nvPr/>
            </p:nvCxnSpPr>
            <p:spPr>
              <a:xfrm>
                <a:off x="9081372" y="1898650"/>
                <a:ext cx="0" cy="2032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Přímá spojnice 15">
                <a:extLst>
                  <a:ext uri="{FF2B5EF4-FFF2-40B4-BE49-F238E27FC236}">
                    <a16:creationId xmlns:a16="http://schemas.microsoft.com/office/drawing/2014/main" id="{CC83D44C-9017-C9C8-2D90-B6B48CFAC47D}"/>
                  </a:ext>
                </a:extLst>
              </p:cNvPr>
              <p:cNvCxnSpPr/>
              <p:nvPr/>
            </p:nvCxnSpPr>
            <p:spPr>
              <a:xfrm>
                <a:off x="8970247" y="2000250"/>
                <a:ext cx="22225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8" name="Obrázek 17">
              <a:extLst>
                <a:ext uri="{FF2B5EF4-FFF2-40B4-BE49-F238E27FC236}">
                  <a16:creationId xmlns:a16="http://schemas.microsoft.com/office/drawing/2014/main" id="{CEA4F1AF-DE38-196D-F9BA-EFEE24E96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63583" y="4748217"/>
              <a:ext cx="3782140" cy="985649"/>
            </a:xfrm>
            <a:prstGeom prst="rect">
              <a:avLst/>
            </a:prstGeom>
          </p:spPr>
        </p:pic>
        <p:cxnSp>
          <p:nvCxnSpPr>
            <p:cNvPr id="21" name="Přímá spojnice se šipkou 20">
              <a:extLst>
                <a:ext uri="{FF2B5EF4-FFF2-40B4-BE49-F238E27FC236}">
                  <a16:creationId xmlns:a16="http://schemas.microsoft.com/office/drawing/2014/main" id="{3386AB7D-FD95-BD4B-A934-7259A90D25A8}"/>
                </a:ext>
              </a:extLst>
            </p:cNvPr>
            <p:cNvCxnSpPr>
              <a:stCxn id="9" idx="2"/>
              <a:endCxn id="18" idx="0"/>
            </p:cNvCxnSpPr>
            <p:nvPr/>
          </p:nvCxnSpPr>
          <p:spPr>
            <a:xfrm flipH="1">
              <a:off x="9354653" y="4205097"/>
              <a:ext cx="1" cy="5431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Obrázek 11" descr="Obsah obrázku text, snímek obrazovky, software&#10;&#10;Obsah generovaný pomocí AI může být nesprávný.">
            <a:extLst>
              <a:ext uri="{FF2B5EF4-FFF2-40B4-BE49-F238E27FC236}">
                <a16:creationId xmlns:a16="http://schemas.microsoft.com/office/drawing/2014/main" id="{964EEDB2-03CE-6F95-5F21-5ACA3DC4E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995" y="1572317"/>
            <a:ext cx="7914975" cy="4584700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02B99649-223B-D087-9EAA-E1F18E6B872D}"/>
              </a:ext>
            </a:extLst>
          </p:cNvPr>
          <p:cNvSpPr txBox="1"/>
          <p:nvPr/>
        </p:nvSpPr>
        <p:spPr>
          <a:xfrm>
            <a:off x="8584453" y="1222217"/>
            <a:ext cx="2834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 dirty="0">
                <a:solidFill>
                  <a:schemeClr val="accent1"/>
                </a:solidFill>
              </a:rPr>
              <a:t>Robinova OP</a:t>
            </a:r>
            <a:endParaRPr lang="en-GB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87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D804C-ABD4-5196-4597-1ECD87D4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bílé&#10;&#10;Obsah generovaný pomocí AI může být nesprávný.">
            <a:extLst>
              <a:ext uri="{FF2B5EF4-FFF2-40B4-BE49-F238E27FC236}">
                <a16:creationId xmlns:a16="http://schemas.microsoft.com/office/drawing/2014/main" id="{C0C50F93-A407-ED66-B621-6344E1FFD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C737C6A6-3A52-5159-105D-054DDCA96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5) </a:t>
            </a:r>
            <a:r>
              <a:rPr lang="cs-CZ" dirty="0" err="1"/>
              <a:t>main</a:t>
            </a:r>
            <a:r>
              <a:rPr lang="cs-CZ" dirty="0"/>
              <a:t>()</a:t>
            </a:r>
            <a:endParaRPr lang="en-GB" dirty="0"/>
          </a:p>
        </p:txBody>
      </p:sp>
      <p:pic>
        <p:nvPicPr>
          <p:cNvPr id="5" name="Obrázek 4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D5241F17-9575-F65A-E398-28A748575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648" y="1846143"/>
            <a:ext cx="4789352" cy="4479593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6126F8D3-B8D7-049B-5620-476FE818C01D}"/>
              </a:ext>
            </a:extLst>
          </p:cNvPr>
          <p:cNvSpPr/>
          <p:nvPr/>
        </p:nvSpPr>
        <p:spPr>
          <a:xfrm>
            <a:off x="1708751" y="2266951"/>
            <a:ext cx="3985146" cy="647699"/>
          </a:xfrm>
          <a:prstGeom prst="rect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14F16BF-C1AA-BA98-5260-9371CDCDDBE2}"/>
              </a:ext>
            </a:extLst>
          </p:cNvPr>
          <p:cNvSpPr/>
          <p:nvPr/>
        </p:nvSpPr>
        <p:spPr>
          <a:xfrm>
            <a:off x="1708751" y="3822819"/>
            <a:ext cx="3985146" cy="647699"/>
          </a:xfrm>
          <a:prstGeom prst="rect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69AFEC5C-2038-37BE-56BB-54D372E34A40}"/>
              </a:ext>
            </a:extLst>
          </p:cNvPr>
          <p:cNvSpPr/>
          <p:nvPr/>
        </p:nvSpPr>
        <p:spPr>
          <a:xfrm>
            <a:off x="1708751" y="4625973"/>
            <a:ext cx="3985146" cy="647699"/>
          </a:xfrm>
          <a:prstGeom prst="rect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bdélník 15">
            <a:extLst>
              <a:ext uri="{FF2B5EF4-FFF2-40B4-BE49-F238E27FC236}">
                <a16:creationId xmlns:a16="http://schemas.microsoft.com/office/drawing/2014/main" id="{B9C00A76-3F93-CD3D-E8DD-56E00C01DFF4}"/>
              </a:ext>
            </a:extLst>
          </p:cNvPr>
          <p:cNvSpPr/>
          <p:nvPr/>
        </p:nvSpPr>
        <p:spPr>
          <a:xfrm>
            <a:off x="1708751" y="3044885"/>
            <a:ext cx="3985146" cy="647699"/>
          </a:xfrm>
          <a:prstGeom prst="rect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Přímá spojnice 17">
            <a:extLst>
              <a:ext uri="{FF2B5EF4-FFF2-40B4-BE49-F238E27FC236}">
                <a16:creationId xmlns:a16="http://schemas.microsoft.com/office/drawing/2014/main" id="{19334DB0-E054-2EBF-1AAB-286E7B16D23A}"/>
              </a:ext>
            </a:extLst>
          </p:cNvPr>
          <p:cNvCxnSpPr>
            <a:cxnSpLocks/>
          </p:cNvCxnSpPr>
          <p:nvPr/>
        </p:nvCxnSpPr>
        <p:spPr>
          <a:xfrm flipV="1">
            <a:off x="5693897" y="1846143"/>
            <a:ext cx="1583203" cy="7402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DA97FA44-BF9D-9000-8C67-B366C5A3253B}"/>
              </a:ext>
            </a:extLst>
          </p:cNvPr>
          <p:cNvSpPr txBox="1"/>
          <p:nvPr/>
        </p:nvSpPr>
        <p:spPr>
          <a:xfrm>
            <a:off x="7277100" y="1661477"/>
            <a:ext cx="240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1"/>
                </a:solidFill>
              </a:rPr>
              <a:t>Inicializace parametrů</a:t>
            </a:r>
            <a:endParaRPr lang="en-GB" dirty="0">
              <a:solidFill>
                <a:schemeClr val="accent1"/>
              </a:solidFill>
            </a:endParaRPr>
          </a:p>
        </p:txBody>
      </p:sp>
      <p:cxnSp>
        <p:nvCxnSpPr>
          <p:cNvPr id="21" name="Přímá spojnice 20">
            <a:extLst>
              <a:ext uri="{FF2B5EF4-FFF2-40B4-BE49-F238E27FC236}">
                <a16:creationId xmlns:a16="http://schemas.microsoft.com/office/drawing/2014/main" id="{91F3C04D-189E-97BB-2880-9E62B3162DF4}"/>
              </a:ext>
            </a:extLst>
          </p:cNvPr>
          <p:cNvCxnSpPr>
            <a:cxnSpLocks/>
          </p:cNvCxnSpPr>
          <p:nvPr/>
        </p:nvCxnSpPr>
        <p:spPr>
          <a:xfrm flipV="1">
            <a:off x="5693896" y="3290555"/>
            <a:ext cx="1500654" cy="97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ovéPole 23">
            <a:extLst>
              <a:ext uri="{FF2B5EF4-FFF2-40B4-BE49-F238E27FC236}">
                <a16:creationId xmlns:a16="http://schemas.microsoft.com/office/drawing/2014/main" id="{DCBA4161-2112-3AE1-E352-288478F9123D}"/>
              </a:ext>
            </a:extLst>
          </p:cNvPr>
          <p:cNvSpPr txBox="1"/>
          <p:nvPr/>
        </p:nvSpPr>
        <p:spPr>
          <a:xfrm>
            <a:off x="7192962" y="3095952"/>
            <a:ext cx="3690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accent1"/>
                </a:solidFill>
              </a:rPr>
              <a:t>Vytvoř</a:t>
            </a:r>
            <a:r>
              <a:rPr lang="cs-CZ" dirty="0" err="1">
                <a:solidFill>
                  <a:schemeClr val="accent1"/>
                </a:solidFill>
              </a:rPr>
              <a:t>ení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instanc</a:t>
            </a:r>
            <a:r>
              <a:rPr lang="cs-CZ" dirty="0">
                <a:solidFill>
                  <a:schemeClr val="accent1"/>
                </a:solidFill>
              </a:rPr>
              <a:t>e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třídy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HeatSolver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233CAB79-1954-FF71-7A31-CF24F2779C14}"/>
              </a:ext>
            </a:extLst>
          </p:cNvPr>
          <p:cNvSpPr txBox="1"/>
          <p:nvPr/>
        </p:nvSpPr>
        <p:spPr>
          <a:xfrm>
            <a:off x="7277100" y="4899761"/>
            <a:ext cx="240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1"/>
                </a:solidFill>
              </a:rPr>
              <a:t>Uložení dat jako .vtk</a:t>
            </a:r>
            <a:endParaRPr lang="en-GB" dirty="0">
              <a:solidFill>
                <a:schemeClr val="accent1"/>
              </a:solidFill>
            </a:endParaRPr>
          </a:p>
        </p:txBody>
      </p:sp>
      <p:cxnSp>
        <p:nvCxnSpPr>
          <p:cNvPr id="26" name="Přímá spojnice 25">
            <a:extLst>
              <a:ext uri="{FF2B5EF4-FFF2-40B4-BE49-F238E27FC236}">
                <a16:creationId xmlns:a16="http://schemas.microsoft.com/office/drawing/2014/main" id="{A027633B-4F54-93DE-6115-86D15DE5107C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5693896" y="4953355"/>
            <a:ext cx="1583204" cy="131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ovéPole 27">
            <a:extLst>
              <a:ext uri="{FF2B5EF4-FFF2-40B4-BE49-F238E27FC236}">
                <a16:creationId xmlns:a16="http://schemas.microsoft.com/office/drawing/2014/main" id="{7D3D9BDE-D8EB-E5F8-FBD9-E02E888C8068}"/>
              </a:ext>
            </a:extLst>
          </p:cNvPr>
          <p:cNvSpPr txBox="1"/>
          <p:nvPr/>
        </p:nvSpPr>
        <p:spPr>
          <a:xfrm>
            <a:off x="7346950" y="3849560"/>
            <a:ext cx="3690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chemeClr val="accent1"/>
                </a:solidFill>
              </a:rPr>
              <a:t>Spustí</a:t>
            </a:r>
            <a:r>
              <a:rPr lang="en-GB" dirty="0">
                <a:solidFill>
                  <a:schemeClr val="accent1"/>
                </a:solidFill>
              </a:rPr>
              <a:t> Gauss–Seidel </a:t>
            </a:r>
            <a:r>
              <a:rPr lang="en-GB" dirty="0" err="1">
                <a:solidFill>
                  <a:schemeClr val="accent1"/>
                </a:solidFill>
              </a:rPr>
              <a:t>itera</a:t>
            </a:r>
            <a:r>
              <a:rPr lang="cs-CZ" dirty="0">
                <a:solidFill>
                  <a:schemeClr val="accent1"/>
                </a:solidFill>
              </a:rPr>
              <a:t>ční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řešení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diskrétní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Poissonovy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rovnice</a:t>
            </a:r>
            <a:r>
              <a:rPr lang="en-GB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29" name="Přímá spojnice 28">
            <a:extLst>
              <a:ext uri="{FF2B5EF4-FFF2-40B4-BE49-F238E27FC236}">
                <a16:creationId xmlns:a16="http://schemas.microsoft.com/office/drawing/2014/main" id="{4F5AB85C-7EC3-80AF-C737-6F45066D6657}"/>
              </a:ext>
            </a:extLst>
          </p:cNvPr>
          <p:cNvCxnSpPr>
            <a:cxnSpLocks/>
          </p:cNvCxnSpPr>
          <p:nvPr/>
        </p:nvCxnSpPr>
        <p:spPr>
          <a:xfrm>
            <a:off x="5693896" y="4143272"/>
            <a:ext cx="1653054" cy="589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656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69D40-7EE2-6941-417C-A016E1086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 descr="Obsah obrázku bílé&#10;&#10;Obsah generovaný pomocí AI může být nesprávný.">
            <a:extLst>
              <a:ext uri="{FF2B5EF4-FFF2-40B4-BE49-F238E27FC236}">
                <a16:creationId xmlns:a16="http://schemas.microsoft.com/office/drawing/2014/main" id="{6454FC11-CBA3-0122-00BD-0854A2A4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Nadpis 3">
            <a:extLst>
              <a:ext uri="{FF2B5EF4-FFF2-40B4-BE49-F238E27FC236}">
                <a16:creationId xmlns:a16="http://schemas.microsoft.com/office/drawing/2014/main" id="{A6F9F99F-11B5-7A44-C7DB-92FC740C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8) Výsledky - </a:t>
            </a:r>
            <a:r>
              <a:rPr lang="cs-CZ" dirty="0" err="1"/>
              <a:t>ParaView</a:t>
            </a:r>
            <a:endParaRPr lang="en-GB" dirty="0"/>
          </a:p>
        </p:txBody>
      </p:sp>
      <p:pic>
        <p:nvPicPr>
          <p:cNvPr id="6" name="Obrázek 5" descr="Obsah obrázku snímek obrazovky, Elektricky modrá&#10;&#10;Obsah generovaný pomocí AI může být nesprávný.">
            <a:extLst>
              <a:ext uri="{FF2B5EF4-FFF2-40B4-BE49-F238E27FC236}">
                <a16:creationId xmlns:a16="http://schemas.microsoft.com/office/drawing/2014/main" id="{DBE55852-4811-F073-48A7-44309671D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447675"/>
            <a:ext cx="5475747" cy="3631122"/>
          </a:xfrm>
          <a:prstGeom prst="rect">
            <a:avLst/>
          </a:prstGeom>
        </p:spPr>
      </p:pic>
      <p:pic>
        <p:nvPicPr>
          <p:cNvPr id="8" name="Obrázek 7" descr="Obsah obrázku snímek obrazovky&#10;&#10;Obsah generovaný pomocí AI může být nesprávný.">
            <a:extLst>
              <a:ext uri="{FF2B5EF4-FFF2-40B4-BE49-F238E27FC236}">
                <a16:creationId xmlns:a16="http://schemas.microsoft.com/office/drawing/2014/main" id="{FE79B312-0A02-F871-AB6F-DC2AEC0B0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1362080"/>
            <a:ext cx="4827128" cy="2716717"/>
          </a:xfrm>
          <a:prstGeom prst="rect">
            <a:avLst/>
          </a:prstGeom>
        </p:spPr>
      </p:pic>
      <p:pic>
        <p:nvPicPr>
          <p:cNvPr id="16" name="Obrázek 15" descr="Obsah obrázku snímek obrazovky, Barevnost&#10;&#10;Obsah generovaný pomocí AI může být nesprávný.">
            <a:extLst>
              <a:ext uri="{FF2B5EF4-FFF2-40B4-BE49-F238E27FC236}">
                <a16:creationId xmlns:a16="http://schemas.microsoft.com/office/drawing/2014/main" id="{F1A77ED3-ECE1-CAC6-F4FC-70C8A738A6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139" y="4161347"/>
            <a:ext cx="5275263" cy="254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50014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93</Words>
  <Application>Microsoft Office PowerPoint</Application>
  <PresentationFormat>Širokoúhlá obrazovka</PresentationFormat>
  <Paragraphs>18</Paragraphs>
  <Slides>7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Motiv Office</vt:lpstr>
      <vt:lpstr>3D výpočet stacionárního vedení tepla se vnitřním zdrojem</vt:lpstr>
      <vt:lpstr>1) Geometrie, Síť, Fyzikální parametry</vt:lpstr>
      <vt:lpstr>2) Inicializace teploty a zdroje</vt:lpstr>
      <vt:lpstr>3) Iterační výpočet</vt:lpstr>
      <vt:lpstr>4) Okrajové podmínky</vt:lpstr>
      <vt:lpstr>5) main()</vt:lpstr>
      <vt:lpstr>8) Výsledky - ParaView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Koudelka</dc:creator>
  <cp:lastModifiedBy>Max Koudelka</cp:lastModifiedBy>
  <cp:revision>4</cp:revision>
  <dcterms:created xsi:type="dcterms:W3CDTF">2025-11-02T16:14:27Z</dcterms:created>
  <dcterms:modified xsi:type="dcterms:W3CDTF">2025-12-08T09:26:10Z</dcterms:modified>
</cp:coreProperties>
</file>